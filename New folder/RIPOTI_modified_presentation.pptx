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400" b="1">
                <a:solidFill>
                  <a:srgbClr val="10375C"/>
                </a:solidFill>
              </a:defRPr>
            </a:pPr>
            <a:r>
              <a:t>Visitor Management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Progress Report Presentation</a:t>
            </a:r>
          </a:p>
          <a:p>
            <a:r>
              <a:t>MSICT and DFHQ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26C"/>
                </a:solidFill>
              </a:defRPr>
            </a:pPr>
            <a:r>
              <a:t>Prepared in line with Progress Report Presentation Requirements - The Research Office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10375C"/>
                </a:solidFill>
              </a:defRPr>
            </a:pPr>
            <a:r>
              <a:t>1. Project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Background: MSICT and DFHQ relied on manual paper logbooks for visitor registration.</a:t>
            </a:r>
          </a:p>
          <a:p>
            <a:pPr>
              <a:defRPr sz="2000"/>
            </a:pPr>
            <a:r>
              <a:t>Problem Statement: Manual logs caused long queues, difficult record retrieval, low data security, and frequent errors.</a:t>
            </a:r>
          </a:p>
          <a:p>
            <a:pPr>
              <a:defRPr sz="2000"/>
            </a:pPr>
            <a:r>
              <a:t>Objectives (Measurable):</a:t>
            </a:r>
          </a:p>
          <a:p>
            <a:pPr lvl="1">
              <a:defRPr sz="2000"/>
            </a:pPr>
            <a:r>
              <a:t>1) Reduce average registration time by digitizing check-in and check-out.</a:t>
            </a:r>
          </a:p>
          <a:p>
            <a:pPr lvl="1">
              <a:defRPr sz="2000"/>
            </a:pPr>
            <a:r>
              <a:t>2) Maintain 100% searchable digital visitor records.</a:t>
            </a:r>
          </a:p>
          <a:p>
            <a:pPr lvl="1">
              <a:defRPr sz="2000"/>
            </a:pPr>
            <a:r>
              <a:t>3) Generate daily, weekly, and monthly reports automatically.</a:t>
            </a:r>
          </a:p>
          <a:p>
            <a:pPr>
              <a:defRPr sz="2000"/>
            </a:pPr>
            <a:r>
              <a:t>Scope: Covers user login, visitor registration, entry/exit tracking, visitor history, and reporting at MSICT/DFHQ.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26C"/>
                </a:solidFill>
              </a:defRPr>
            </a:pPr>
            <a:r>
              <a:t>Prepared in line with Progress Report Presentation Requirements - The Research Office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10375C"/>
                </a:solidFill>
              </a:defRPr>
            </a:pPr>
            <a:r>
              <a:t>2. 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Information Systems Theory supports using ICT to improve organizational efficiency (Laudon &amp; Laudon, 2019).</a:t>
            </a:r>
          </a:p>
          <a:p>
            <a:pPr>
              <a:defRPr sz="2000"/>
            </a:pPr>
            <a:r>
              <a:t>Access Control Theory emphasizes regulating entry to protect resources (Sandhu et al., 1996).</a:t>
            </a:r>
          </a:p>
          <a:p>
            <a:pPr>
              <a:defRPr sz="2000"/>
            </a:pPr>
            <a:r>
              <a:t>Empirical findings show digital VMS improves identification, speed, and traceability (ATT Systems Group, 2025; IJMRSET, 2025).</a:t>
            </a:r>
          </a:p>
          <a:p>
            <a:pPr>
              <a:defRPr sz="2000"/>
            </a:pPr>
            <a:r>
              <a:t>National digital transformation efforts encourage computerized systems in Tanzania (Tanzania ICT Authority, 2023).</a:t>
            </a:r>
          </a:p>
          <a:p>
            <a:pPr>
              <a:defRPr sz="2000"/>
            </a:pPr>
            <a:r>
              <a:t>Research gap: Existing manual systems at MSICT/DFHQ lacked secure centralized tracking and automated reporting.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26C"/>
                </a:solidFill>
              </a:defRPr>
            </a:pPr>
            <a:r>
              <a:t>Prepared in line with Progress Report Presentation Requirements - The Research Office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10375C"/>
                </a:solidFill>
              </a:defRPr>
            </a:pPr>
            <a:r>
              <a:t>3.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Research Design: Descriptive + exploratory with mixed methods.</a:t>
            </a:r>
          </a:p>
          <a:p>
            <a:pPr>
              <a:defRPr sz="2000"/>
            </a:pPr>
            <a:r>
              <a:t>Data Collection Techniques:</a:t>
            </a:r>
          </a:p>
          <a:p>
            <a:pPr lvl="1">
              <a:defRPr sz="2000"/>
            </a:pPr>
            <a:r>
              <a:t>- Questionnaires (visitors and staff)</a:t>
            </a:r>
          </a:p>
          <a:p>
            <a:pPr lvl="1">
              <a:defRPr sz="2000"/>
            </a:pPr>
            <a:r>
              <a:t>- Interviews (security officers, administrators, ICT personnel)</a:t>
            </a:r>
          </a:p>
          <a:p>
            <a:pPr lvl="1">
              <a:defRPr sz="2000"/>
            </a:pPr>
            <a:r>
              <a:t>- Observation (registration workflow at entry points)</a:t>
            </a:r>
          </a:p>
          <a:p>
            <a:pPr lvl="1">
              <a:defRPr sz="2000"/>
            </a:pPr>
            <a:r>
              <a:t>- Document review (logbooks and institutional records)</a:t>
            </a:r>
          </a:p>
          <a:p>
            <a:pPr>
              <a:defRPr sz="2000"/>
            </a:pPr>
            <a:r>
              <a:t>System Development Methodology: Waterfall Model.</a:t>
            </a:r>
          </a:p>
          <a:p>
            <a:pPr>
              <a:defRPr sz="2000"/>
            </a:pPr>
            <a:r>
              <a:t>Waterfall Stages: Planning -&gt; Requirement Analysis -&gt; Design -&gt; Implementation -&gt; Testing -&gt; Deployment -&gt; Maintenance.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26C"/>
                </a:solidFill>
              </a:defRPr>
            </a:pPr>
            <a:r>
              <a:t>Prepared in line with Progress Report Presentation Requirements - The Research Office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10375C"/>
                </a:solidFill>
              </a:defRPr>
            </a:pPr>
            <a:r>
              <a:t>4. Project Timeline (Gantt Chart)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1247120" cy="4846320"/>
          </a:xfrm>
          <a:prstGeom prst="rect">
            <a:avLst/>
          </a:prstGeom>
          <a:solidFill>
            <a:srgbClr val="F5F7FA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0" y="1417320"/>
            <a:ext cx="60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/>
            </a:pPr>
            <a:r>
              <a:t>W1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0" y="1691640"/>
            <a:ext cx="12700" cy="3931920"/>
          </a:xfrm>
          <a:prstGeom prst="rect">
            <a:avLst/>
          </a:prstGeom>
          <a:solidFill>
            <a:srgbClr val="E1E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50080" y="1417320"/>
            <a:ext cx="60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/>
            </a:pPr>
            <a:r>
              <a:t>W2</a:t>
            </a:r>
          </a:p>
        </p:txBody>
      </p:sp>
      <p:sp>
        <p:nvSpPr>
          <p:cNvPr id="7" name="Rectangle 6"/>
          <p:cNvSpPr/>
          <p:nvPr/>
        </p:nvSpPr>
        <p:spPr>
          <a:xfrm>
            <a:off x="4450080" y="1691640"/>
            <a:ext cx="12700" cy="3931920"/>
          </a:xfrm>
          <a:prstGeom prst="rect">
            <a:avLst/>
          </a:prstGeom>
          <a:solidFill>
            <a:srgbClr val="E1E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59680" y="1417320"/>
            <a:ext cx="60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/>
            </a:pPr>
            <a:r>
              <a:t>W3</a:t>
            </a:r>
          </a:p>
        </p:txBody>
      </p:sp>
      <p:sp>
        <p:nvSpPr>
          <p:cNvPr id="9" name="Rectangle 8"/>
          <p:cNvSpPr/>
          <p:nvPr/>
        </p:nvSpPr>
        <p:spPr>
          <a:xfrm>
            <a:off x="5059680" y="1691640"/>
            <a:ext cx="12700" cy="3931920"/>
          </a:xfrm>
          <a:prstGeom prst="rect">
            <a:avLst/>
          </a:prstGeom>
          <a:solidFill>
            <a:srgbClr val="E1E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0" y="1417320"/>
            <a:ext cx="60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/>
            </a:pPr>
            <a:r>
              <a:t>W4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0" y="1691640"/>
            <a:ext cx="12700" cy="3931920"/>
          </a:xfrm>
          <a:prstGeom prst="rect">
            <a:avLst/>
          </a:prstGeom>
          <a:solidFill>
            <a:srgbClr val="E1E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8880" y="1417320"/>
            <a:ext cx="60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/>
            </a:pPr>
            <a:r>
              <a:t>W5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78880" y="1691640"/>
            <a:ext cx="12700" cy="3931920"/>
          </a:xfrm>
          <a:prstGeom prst="rect">
            <a:avLst/>
          </a:prstGeom>
          <a:solidFill>
            <a:srgbClr val="E1E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88480" y="1417320"/>
            <a:ext cx="60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/>
            </a:pPr>
            <a:r>
              <a:t>W6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88480" y="1691640"/>
            <a:ext cx="12700" cy="3931920"/>
          </a:xfrm>
          <a:prstGeom prst="rect">
            <a:avLst/>
          </a:prstGeom>
          <a:solidFill>
            <a:srgbClr val="E1E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0" y="1417320"/>
            <a:ext cx="60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/>
            </a:pPr>
            <a:r>
              <a:t>W7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80" y="1691640"/>
            <a:ext cx="12700" cy="3931920"/>
          </a:xfrm>
          <a:prstGeom prst="rect">
            <a:avLst/>
          </a:prstGeom>
          <a:solidFill>
            <a:srgbClr val="E1E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07680" y="1417320"/>
            <a:ext cx="60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/>
            </a:pPr>
            <a:r>
              <a:t>W8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07680" y="1691640"/>
            <a:ext cx="12700" cy="3931920"/>
          </a:xfrm>
          <a:prstGeom prst="rect">
            <a:avLst/>
          </a:prstGeom>
          <a:solidFill>
            <a:srgbClr val="E1E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17280" y="1417320"/>
            <a:ext cx="60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/>
            </a:pPr>
            <a:r>
              <a:t>W9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17280" y="1691640"/>
            <a:ext cx="12700" cy="3931920"/>
          </a:xfrm>
          <a:prstGeom prst="rect">
            <a:avLst/>
          </a:prstGeom>
          <a:solidFill>
            <a:srgbClr val="E1E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0" y="1417320"/>
            <a:ext cx="60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/>
            </a:pPr>
            <a:r>
              <a:t>W10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26880" y="1691640"/>
            <a:ext cx="12700" cy="3931920"/>
          </a:xfrm>
          <a:prstGeom prst="rect">
            <a:avLst/>
          </a:prstGeom>
          <a:solidFill>
            <a:srgbClr val="E1E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36480" y="1417320"/>
            <a:ext cx="60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/>
            </a:pPr>
            <a:r>
              <a:t>W11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936480" y="1691640"/>
            <a:ext cx="12700" cy="3931920"/>
          </a:xfrm>
          <a:prstGeom prst="rect">
            <a:avLst/>
          </a:prstGeom>
          <a:solidFill>
            <a:srgbClr val="E1E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46080" y="1417320"/>
            <a:ext cx="60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/>
            </a:pPr>
            <a:r>
              <a:t>W12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546080" y="1691640"/>
            <a:ext cx="12700" cy="3931920"/>
          </a:xfrm>
          <a:prstGeom prst="rect">
            <a:avLst/>
          </a:prstGeom>
          <a:solidFill>
            <a:srgbClr val="E1E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182880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Requirement Analysis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40480" y="1874520"/>
            <a:ext cx="1219200" cy="320040"/>
          </a:xfrm>
          <a:prstGeom prst="roundRect">
            <a:avLst/>
          </a:prstGeom>
          <a:solidFill>
            <a:srgbClr val="3584E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246888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System Design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59680" y="2514600"/>
            <a:ext cx="1828800" cy="320040"/>
          </a:xfrm>
          <a:prstGeom prst="roundRect">
            <a:avLst/>
          </a:prstGeom>
          <a:solidFill>
            <a:srgbClr val="3FB95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310896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Coding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88480" y="3154680"/>
            <a:ext cx="3048000" cy="320040"/>
          </a:xfrm>
          <a:prstGeom prst="roundRect">
            <a:avLst/>
          </a:prstGeom>
          <a:solidFill>
            <a:srgbClr val="F6993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374904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Testing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936480" y="3794760"/>
            <a:ext cx="609600" cy="320040"/>
          </a:xfrm>
          <a:prstGeom prst="roundRect">
            <a:avLst/>
          </a:prstGeom>
          <a:solidFill>
            <a:srgbClr val="D65A5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438912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Deployment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546080" y="4434840"/>
            <a:ext cx="609600" cy="320040"/>
          </a:xfrm>
          <a:prstGeom prst="roundRect">
            <a:avLst/>
          </a:prstGeom>
          <a:solidFill>
            <a:srgbClr val="8963B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54864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/>
            </a:pPr>
            <a:r>
              <a:t>Timeline reflects current project milestones from the report (12-week plan).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26C"/>
                </a:solidFill>
              </a:defRPr>
            </a:pPr>
            <a:r>
              <a:t>Prepared in line with Progress Report Presentation Requirements - The Research Office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10375C"/>
                </a:solidFill>
              </a:defRPr>
            </a:pPr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ATT Systems Group. (2025). Automated visitor management solutions for modern organizations.</a:t>
            </a:r>
          </a:p>
          <a:p>
            <a:pPr>
              <a:defRPr sz="1400"/>
            </a:pPr>
            <a:r>
              <a:t>IJMRSET. (2025). A study on automated visitor management systems, 7(2), 45-52.</a:t>
            </a:r>
          </a:p>
          <a:p>
            <a:pPr>
              <a:defRPr sz="1400"/>
            </a:pPr>
            <a:r>
              <a:t>Laudon, K. C., &amp; Laudon, J. P. (2019). Management information systems (15th ed.). Pearson.</a:t>
            </a:r>
          </a:p>
          <a:p>
            <a:pPr>
              <a:defRPr sz="1400"/>
            </a:pPr>
            <a:r>
              <a:t>Sandhu, R. S., Coyne, E. J., Feinstein, H. L., &amp; Youman, C. E. (1996). Role-based access control models. IEEE Computer, 29(2), 38-47.</a:t>
            </a:r>
          </a:p>
          <a:p>
            <a:pPr>
              <a:defRPr sz="1400"/>
            </a:pPr>
            <a:r>
              <a:t>Tanzania ICT Authority. (2023). ICT systems adoption and digital transformation in Tanzania.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26C"/>
                </a:solidFill>
              </a:defRPr>
            </a:pPr>
            <a:r>
              <a:t>Prepared in line with Progress Report Presentation Requirements - The Research Office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